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900" b="1">
                <a:latin typeface="Arial"/>
              </a:rPr>
              <a:t>Sugar demand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>
              <a:solidFill>
                <a:srgbClr val="0070C0"/>
              </a:solidFill>
            </a:ln>
          </c:spPr>
          <c:marker>
            <c:symbol val="diamond"/>
            <c:size val="5"/>
            <c:spPr>
              <a:solidFill>
                <a:srgbClr val="0070C0"/>
              </a:solidFill>
              <a:ln>
                <a:solidFill>
                  <a:srgbClr val="0070C0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M</c:v>
                </c:pt>
                <c:pt idx="1">
                  <c:v>T</c:v>
                </c:pt>
                <c:pt idx="2">
                  <c:v>W</c:v>
                </c:pt>
                <c:pt idx="3">
                  <c:v>T</c:v>
                </c:pt>
                <c:pt idx="4">
                  <c:v>F</c:v>
                </c:pt>
                <c:pt idx="5">
                  <c:v>S</c:v>
                </c:pt>
                <c:pt idx="6">
                  <c:v>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14</c:v>
                </c:pt>
                <c:pt idx="2">
                  <c:v>13</c:v>
                </c:pt>
                <c:pt idx="3">
                  <c:v>16</c:v>
                </c:pt>
                <c:pt idx="4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E2-4357-95E0-24E64448B3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25400">
              <a:solidFill>
                <a:srgbClr val="E8751A"/>
              </a:solidFill>
              <a:prstDash val="dash"/>
            </a:ln>
          </c:spPr>
          <c:marker>
            <c:symbol val="square"/>
            <c:size val="5"/>
            <c:spPr>
              <a:solidFill>
                <a:srgbClr val="E8751A"/>
              </a:solidFill>
              <a:ln>
                <a:solidFill>
                  <a:srgbClr val="E8751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M</c:v>
                </c:pt>
                <c:pt idx="1">
                  <c:v>T</c:v>
                </c:pt>
                <c:pt idx="2">
                  <c:v>W</c:v>
                </c:pt>
                <c:pt idx="3">
                  <c:v>T</c:v>
                </c:pt>
                <c:pt idx="4">
                  <c:v>F</c:v>
                </c:pt>
                <c:pt idx="5">
                  <c:v>S</c:v>
                </c:pt>
                <c:pt idx="6">
                  <c:v>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15</c:v>
                </c:pt>
                <c:pt idx="5">
                  <c:v>17</c:v>
                </c:pt>
                <c:pt idx="6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E2-4357-95E0-24E64448B3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456832"/>
        <c:axId val="39940608"/>
      </c:lineChart>
      <c:catAx>
        <c:axId val="1344568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39940608"/>
        <c:crosses val="autoZero"/>
        <c:auto val="1"/>
        <c:lblAlgn val="ctr"/>
        <c:lblOffset val="100"/>
        <c:noMultiLvlLbl val="0"/>
      </c:catAx>
      <c:valAx>
        <c:axId val="399406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34456832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Team TechTitans presenting StockSathi: local vendor inventory digitization through WhatsApp and SMS. Fill the portal IDs in red before exporting.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dirty="0"/>
              <a:t>Left: each problem is paired with how </a:t>
            </a:r>
            <a:r>
              <a:rPr dirty="0" err="1"/>
              <a:t>StockSathi</a:t>
            </a:r>
            <a:r>
              <a:rPr dirty="0"/>
              <a:t> solves it. Orange NEW items are our additions: </a:t>
            </a:r>
            <a:r>
              <a:rPr dirty="0" err="1"/>
              <a:t>udhaar</a:t>
            </a:r>
            <a:r>
              <a:rPr dirty="0"/>
              <a:t> ledger, demand forecasting and the daily </a:t>
            </a:r>
            <a:r>
              <a:rPr dirty="0" err="1"/>
              <a:t>WhatsApp</a:t>
            </a:r>
            <a:r>
              <a:rPr dirty="0"/>
              <a:t> report. Right: the four-step flow from message to dashboard.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dirty="0"/>
              <a:t>Architecture </a:t>
            </a:r>
            <a:r>
              <a:rPr lang="en-US" dirty="0"/>
              <a:t>i</a:t>
            </a:r>
            <a:r>
              <a:rPr dirty="0"/>
              <a:t>s layered: input, gateway, AI layer, services, data and output. Orange modules (</a:t>
            </a:r>
            <a:r>
              <a:rPr dirty="0" err="1"/>
              <a:t>udhaar</a:t>
            </a:r>
            <a:r>
              <a:rPr dirty="0"/>
              <a:t> ledger, demand forecast, daily report) are our additions on top of basic digitization.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Feasibility tree across technical, financial, operational and social. Main risks and strategies on the right. Roadmap: MVP first, smart add-ons second, pilot and scale third.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Benefits for shopkeepers, suppliers, government and the environment. Business model: free core, Pro subscription and distributor partnerships, supported by schemes, CSR and incubators.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Sample UI concept built by the team: chat flow with voice note, udhaar entry and forecast reply; dashboard with stock table, demand chart, forecast alert and daily report. Sample data only.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1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hyperlink" Target="https://bhashini.gov.in" TargetMode="External"/><Relationship Id="rId3" Type="http://schemas.openxmlformats.org/officeDocument/2006/relationships/image" Target="../media/image2.png"/><Relationship Id="rId7" Type="http://schemas.openxmlformats.org/officeDocument/2006/relationships/chart" Target="../charts/chart1.xml"/><Relationship Id="rId12" Type="http://schemas.openxmlformats.org/officeDocument/2006/relationships/hyperlink" Target="https://arxiv.org/abs/2212.0435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hyperlink" Target="https://www.twilio.com/docs/messaging" TargetMode="External"/><Relationship Id="rId5" Type="http://schemas.openxmlformats.org/officeDocument/2006/relationships/image" Target="../media/image25.png"/><Relationship Id="rId15" Type="http://schemas.openxmlformats.org/officeDocument/2006/relationships/hyperlink" Target="https://facebook.github.io/prophet/" TargetMode="External"/><Relationship Id="rId10" Type="http://schemas.openxmlformats.org/officeDocument/2006/relationships/hyperlink" Target="https://developers.facebook.com/docs/whatsapp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27.png"/><Relationship Id="rId14" Type="http://schemas.openxmlformats.org/officeDocument/2006/relationships/hyperlink" Target="https://fastapi.tiangolo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Details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2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530352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endParaRPr lang="en-US" sz="1600" b="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Local Vendor Inventory Digitization via WhatsApp/SMS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Solution Name- </a:t>
            </a:r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StockSathi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endParaRPr lang="en-US" sz="1600" b="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TechTitans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7200" y="4526280"/>
            <a:ext cx="3657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Team Members: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64608"/>
            <a:ext cx="5120640" cy="10756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buClr>
                <a:srgbClr val="0070C0"/>
              </a:buClr>
            </a:pPr>
            <a:r>
              <a:rPr lang="en-US" sz="1500" b="0" dirty="0">
                <a:solidFill>
                  <a:srgbClr val="000000"/>
                </a:solidFill>
                <a:latin typeface="Arial"/>
              </a:rPr>
              <a:t>1.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Pallvi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Jaywant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Patil</a:t>
            </a:r>
            <a:endParaRPr sz="1500" b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300"/>
              </a:spcAft>
              <a:buClr>
                <a:srgbClr val="0070C0"/>
              </a:buClr>
            </a:pPr>
            <a:r>
              <a:rPr lang="en-US" sz="1500" b="0" dirty="0">
                <a:solidFill>
                  <a:srgbClr val="000000"/>
                </a:solidFill>
                <a:latin typeface="Arial"/>
              </a:rPr>
              <a:t>2.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Shravani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Bhimrao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Fadatare</a:t>
            </a:r>
            <a:endParaRPr sz="1500" b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300"/>
              </a:spcAft>
              <a:buClr>
                <a:srgbClr val="0070C0"/>
              </a:buClr>
            </a:pPr>
            <a:r>
              <a:rPr lang="en-US" sz="1500" b="0" dirty="0">
                <a:solidFill>
                  <a:srgbClr val="000000"/>
                </a:solidFill>
                <a:latin typeface="Arial"/>
              </a:rPr>
              <a:t>3.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Namrata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Dilip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Kachare</a:t>
            </a:r>
            <a:endParaRPr lang="en-US" sz="15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300"/>
              </a:spcAft>
              <a:buClr>
                <a:srgbClr val="0070C0"/>
              </a:buClr>
            </a:pPr>
            <a:r>
              <a:rPr lang="en-US" sz="1500" b="0" dirty="0">
                <a:solidFill>
                  <a:srgbClr val="000000"/>
                </a:solidFill>
                <a:latin typeface="Arial"/>
              </a:rPr>
              <a:t>4.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Apurva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Arvind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Desai</a:t>
            </a:r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91440"/>
            <a:ext cx="1439892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STOCKSATHI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53" y="215670"/>
            <a:ext cx="1343899" cy="896112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57200" y="1207008"/>
            <a:ext cx="539496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Challenges  →  How StockSathi Solves Them</a:t>
            </a:r>
          </a:p>
        </p:txBody>
      </p:sp>
      <p:cxnSp>
        <p:nvCxnSpPr>
          <p:cNvPr id="15364" name="Connector 15363"/>
          <p:cNvCxnSpPr/>
          <p:nvPr/>
        </p:nvCxnSpPr>
        <p:spPr>
          <a:xfrm>
            <a:off x="457200" y="1554480"/>
            <a:ext cx="539496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TextBox 15364"/>
          <p:cNvSpPr txBox="1"/>
          <p:nvPr/>
        </p:nvSpPr>
        <p:spPr>
          <a:xfrm>
            <a:off x="457200" y="1682496"/>
            <a:ext cx="242316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Arial"/>
              </a:rPr>
              <a:t>Complex POS software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2880360" y="1682496"/>
            <a:ext cx="36576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246120" y="1682496"/>
            <a:ext cx="260604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Just chat, no training</a:t>
            </a:r>
          </a:p>
        </p:txBody>
      </p:sp>
      <p:cxnSp>
        <p:nvCxnSpPr>
          <p:cNvPr id="15368" name="Connector 15367"/>
          <p:cNvCxnSpPr/>
          <p:nvPr/>
        </p:nvCxnSpPr>
        <p:spPr>
          <a:xfrm>
            <a:off x="457200" y="2130552"/>
            <a:ext cx="5394960" cy="0"/>
          </a:xfrm>
          <a:prstGeom prst="line">
            <a:avLst/>
          </a:prstGeom>
          <a:ln w="9525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9" name="TextBox 15368"/>
          <p:cNvSpPr txBox="1"/>
          <p:nvPr/>
        </p:nvSpPr>
        <p:spPr>
          <a:xfrm>
            <a:off x="457200" y="2157984"/>
            <a:ext cx="242316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Arial"/>
              </a:rPr>
              <a:t>Paper notebooks, lost data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2880360" y="2157984"/>
            <a:ext cx="36576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3246120" y="2157984"/>
            <a:ext cx="260604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Live digital records</a:t>
            </a:r>
          </a:p>
        </p:txBody>
      </p:sp>
      <p:cxnSp>
        <p:nvCxnSpPr>
          <p:cNvPr id="15372" name="Connector 15371"/>
          <p:cNvCxnSpPr/>
          <p:nvPr/>
        </p:nvCxnSpPr>
        <p:spPr>
          <a:xfrm>
            <a:off x="457200" y="2606040"/>
            <a:ext cx="5394960" cy="0"/>
          </a:xfrm>
          <a:prstGeom prst="line">
            <a:avLst/>
          </a:prstGeom>
          <a:ln w="9525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3" name="TextBox 15372"/>
          <p:cNvSpPr txBox="1"/>
          <p:nvPr/>
        </p:nvSpPr>
        <p:spPr>
          <a:xfrm>
            <a:off x="457200" y="2633472"/>
            <a:ext cx="242316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Arial"/>
              </a:rPr>
              <a:t>Stock-outs and wastage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2880360" y="2633472"/>
            <a:ext cx="36576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3246120" y="2633472"/>
            <a:ext cx="260604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Forecast + low-stock alerts</a:t>
            </a:r>
          </a:p>
        </p:txBody>
      </p:sp>
      <p:cxnSp>
        <p:nvCxnSpPr>
          <p:cNvPr id="15376" name="Connector 15375"/>
          <p:cNvCxnSpPr/>
          <p:nvPr/>
        </p:nvCxnSpPr>
        <p:spPr>
          <a:xfrm>
            <a:off x="457200" y="3081528"/>
            <a:ext cx="5394960" cy="0"/>
          </a:xfrm>
          <a:prstGeom prst="line">
            <a:avLst/>
          </a:prstGeom>
          <a:ln w="9525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7" name="TextBox 15376"/>
          <p:cNvSpPr txBox="1"/>
          <p:nvPr/>
        </p:nvSpPr>
        <p:spPr>
          <a:xfrm>
            <a:off x="457200" y="3108960"/>
            <a:ext cx="242316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Arial"/>
              </a:rPr>
              <a:t>Forgotten udhaar (credit)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2880360" y="3108960"/>
            <a:ext cx="36576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3246120" y="3108960"/>
            <a:ext cx="260604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Automatic udhaar ledger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457200" y="3639312"/>
            <a:ext cx="539496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Innovation &amp; Uniqueness</a:t>
            </a:r>
          </a:p>
        </p:txBody>
      </p:sp>
      <p:cxnSp>
        <p:nvCxnSpPr>
          <p:cNvPr id="15381" name="Connector 15380"/>
          <p:cNvCxnSpPr/>
          <p:nvPr/>
        </p:nvCxnSpPr>
        <p:spPr>
          <a:xfrm>
            <a:off x="457200" y="3986784"/>
            <a:ext cx="539496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2" name="TextBox 15381"/>
          <p:cNvSpPr txBox="1"/>
          <p:nvPr/>
        </p:nvSpPr>
        <p:spPr>
          <a:xfrm>
            <a:off x="457200" y="4059936"/>
            <a:ext cx="539496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82880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200" b="1">
                <a:solidFill>
                  <a:srgbClr val="1F3864"/>
                </a:solidFill>
                <a:latin typeface="Arial"/>
              </a:rPr>
              <a:t>Voice-first: </a:t>
            </a:r>
            <a:r>
              <a:rPr sz="1200" b="0">
                <a:solidFill>
                  <a:srgbClr val="1F3864"/>
                </a:solidFill>
                <a:latin typeface="Arial"/>
              </a:rPr>
              <a:t>speak in Hindi, Marathi or English</a:t>
            </a:r>
          </a:p>
          <a:p>
            <a:pPr marL="182880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200" b="1">
                <a:solidFill>
                  <a:srgbClr val="1F3864"/>
                </a:solidFill>
                <a:latin typeface="Arial"/>
              </a:rPr>
              <a:t>Zero-install: </a:t>
            </a:r>
            <a:r>
              <a:rPr sz="1200" b="0">
                <a:solidFill>
                  <a:srgbClr val="1F3864"/>
                </a:solidFill>
                <a:latin typeface="Arial"/>
              </a:rPr>
              <a:t>works inside WhatsApp / SMS</a:t>
            </a:r>
          </a:p>
          <a:p>
            <a:pPr marL="182880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200" b="1">
                <a:solidFill>
                  <a:srgbClr val="1F3864"/>
                </a:solidFill>
                <a:latin typeface="Arial"/>
              </a:rPr>
              <a:t>Confirm-back: </a:t>
            </a:r>
            <a:r>
              <a:rPr sz="1200" b="0">
                <a:solidFill>
                  <a:srgbClr val="1F3864"/>
                </a:solidFill>
                <a:latin typeface="Arial"/>
              </a:rPr>
              <a:t>every entry verified, one-word UNDO</a:t>
            </a:r>
          </a:p>
          <a:p>
            <a:pPr marL="182880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200" b="1">
                <a:solidFill>
                  <a:srgbClr val="1F3864"/>
                </a:solidFill>
                <a:latin typeface="Arial"/>
              </a:rPr>
              <a:t>Udhaar ledger: </a:t>
            </a:r>
            <a:r>
              <a:rPr sz="1200" b="0">
                <a:solidFill>
                  <a:srgbClr val="1F3864"/>
                </a:solidFill>
                <a:latin typeface="Arial"/>
              </a:rPr>
              <a:t>credit tracked by chat</a:t>
            </a:r>
          </a:p>
          <a:p>
            <a:pPr marL="182880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200" b="1">
                <a:solidFill>
                  <a:srgbClr val="1F3864"/>
                </a:solidFill>
                <a:latin typeface="Arial"/>
              </a:rPr>
              <a:t>Forecast + report: </a:t>
            </a:r>
            <a:r>
              <a:rPr sz="1200" b="0">
                <a:solidFill>
                  <a:srgbClr val="1F3864"/>
                </a:solidFill>
                <a:latin typeface="Arial"/>
              </a:rPr>
              <a:t>shortage alerts and a daily WhatsApp summary</a:t>
            </a:r>
          </a:p>
        </p:txBody>
      </p:sp>
      <p:cxnSp>
        <p:nvCxnSpPr>
          <p:cNvPr id="15383" name="Connector 15382"/>
          <p:cNvCxnSpPr/>
          <p:nvPr/>
        </p:nvCxnSpPr>
        <p:spPr>
          <a:xfrm>
            <a:off x="457200" y="5468112"/>
            <a:ext cx="5394960" cy="0"/>
          </a:xfrm>
          <a:prstGeom prst="line">
            <a:avLst/>
          </a:prstGeom>
          <a:ln w="127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4" name="TextBox 15383"/>
          <p:cNvSpPr txBox="1"/>
          <p:nvPr/>
        </p:nvSpPr>
        <p:spPr>
          <a:xfrm>
            <a:off x="457200" y="5486400"/>
            <a:ext cx="173736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1" i="0">
                <a:solidFill>
                  <a:srgbClr val="0070C0"/>
                </a:solidFill>
                <a:latin typeface="Arial"/>
              </a:rPr>
              <a:t>12M+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57200" y="5833872"/>
            <a:ext cx="1737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 i="0">
                <a:solidFill>
                  <a:srgbClr val="5A6472"/>
                </a:solidFill>
                <a:latin typeface="Arial"/>
              </a:rPr>
              <a:t>kirana stores in India</a:t>
            </a:r>
          </a:p>
        </p:txBody>
      </p:sp>
      <p:cxnSp>
        <p:nvCxnSpPr>
          <p:cNvPr id="15386" name="Connector 15385"/>
          <p:cNvCxnSpPr/>
          <p:nvPr/>
        </p:nvCxnSpPr>
        <p:spPr>
          <a:xfrm>
            <a:off x="2240280" y="5577840"/>
            <a:ext cx="0" cy="475488"/>
          </a:xfrm>
          <a:prstGeom prst="line">
            <a:avLst/>
          </a:prstGeom>
          <a:ln w="127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7" name="TextBox 15386"/>
          <p:cNvSpPr txBox="1"/>
          <p:nvPr/>
        </p:nvSpPr>
        <p:spPr>
          <a:xfrm>
            <a:off x="2258568" y="5486400"/>
            <a:ext cx="173736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1" i="0">
                <a:solidFill>
                  <a:srgbClr val="0070C0"/>
                </a:solidFill>
                <a:latin typeface="Arial"/>
              </a:rPr>
              <a:t>~90%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2258568" y="5833872"/>
            <a:ext cx="1737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 i="0">
                <a:solidFill>
                  <a:srgbClr val="5A6472"/>
                </a:solidFill>
                <a:latin typeface="Arial"/>
              </a:rPr>
              <a:t>grocery sales via kiranas</a:t>
            </a:r>
          </a:p>
        </p:txBody>
      </p:sp>
      <p:cxnSp>
        <p:nvCxnSpPr>
          <p:cNvPr id="15389" name="Connector 15388"/>
          <p:cNvCxnSpPr/>
          <p:nvPr/>
        </p:nvCxnSpPr>
        <p:spPr>
          <a:xfrm>
            <a:off x="4041648" y="5577840"/>
            <a:ext cx="0" cy="475488"/>
          </a:xfrm>
          <a:prstGeom prst="line">
            <a:avLst/>
          </a:prstGeom>
          <a:ln w="127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90" name="TextBox 15389"/>
          <p:cNvSpPr txBox="1"/>
          <p:nvPr/>
        </p:nvSpPr>
        <p:spPr>
          <a:xfrm>
            <a:off x="4059935" y="5486400"/>
            <a:ext cx="173736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1" i="0">
                <a:solidFill>
                  <a:srgbClr val="0070C0"/>
                </a:solidFill>
                <a:latin typeface="Arial"/>
              </a:rPr>
              <a:t>500M+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4059935" y="5833872"/>
            <a:ext cx="1737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 i="0">
                <a:solidFill>
                  <a:srgbClr val="5A6472"/>
                </a:solidFill>
                <a:latin typeface="Arial"/>
              </a:rPr>
              <a:t>WhatsApp users in India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457200" y="6126480"/>
            <a:ext cx="539496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5A6472"/>
                </a:solidFill>
                <a:latin typeface="Arial"/>
              </a:rPr>
              <a:t>Sources: Quartz; Flourish Ventures via CNA; Meta / DataReportal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6309360" y="1207008"/>
            <a:ext cx="546811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Proposed Solution</a:t>
            </a:r>
          </a:p>
        </p:txBody>
      </p:sp>
      <p:cxnSp>
        <p:nvCxnSpPr>
          <p:cNvPr id="15394" name="Connector 15393"/>
          <p:cNvCxnSpPr/>
          <p:nvPr/>
        </p:nvCxnSpPr>
        <p:spPr>
          <a:xfrm>
            <a:off x="6309360" y="1554480"/>
            <a:ext cx="546811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95" name="Oval 15394"/>
          <p:cNvSpPr/>
          <p:nvPr/>
        </p:nvSpPr>
        <p:spPr>
          <a:xfrm>
            <a:off x="6437376" y="202082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7040880" y="1783080"/>
            <a:ext cx="4736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97" name="Picture 15396" descr="FaWhatsapp_0070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3" y="2043684"/>
            <a:ext cx="347472" cy="347472"/>
          </a:xfrm>
          <a:prstGeom prst="rect">
            <a:avLst/>
          </a:prstGeom>
        </p:spPr>
      </p:pic>
      <p:sp>
        <p:nvSpPr>
          <p:cNvPr id="15398" name="TextBox 15397"/>
          <p:cNvSpPr txBox="1"/>
          <p:nvPr/>
        </p:nvSpPr>
        <p:spPr>
          <a:xfrm>
            <a:off x="7726679" y="1783080"/>
            <a:ext cx="402336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Shopkeeper sends a message</a:t>
            </a:r>
          </a:p>
          <a:p>
            <a:pPr algn="l"/>
            <a:r>
              <a:rPr sz="1150" b="0" i="0">
                <a:solidFill>
                  <a:srgbClr val="5A6472"/>
                </a:solidFill>
                <a:latin typeface="Arial"/>
              </a:rPr>
              <a:t>"10 kg chawal aaya, 5 Maggi becha"  or a voice note</a:t>
            </a:r>
          </a:p>
        </p:txBody>
      </p:sp>
      <p:cxnSp>
        <p:nvCxnSpPr>
          <p:cNvPr id="15399" name="Connector 15398"/>
          <p:cNvCxnSpPr/>
          <p:nvPr/>
        </p:nvCxnSpPr>
        <p:spPr>
          <a:xfrm>
            <a:off x="6629400" y="2423160"/>
            <a:ext cx="0" cy="475488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00" name="Oval 15399"/>
          <p:cNvSpPr/>
          <p:nvPr/>
        </p:nvSpPr>
        <p:spPr>
          <a:xfrm>
            <a:off x="6437376" y="316382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7040880" y="2926080"/>
            <a:ext cx="4736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02" name="Picture 15401" descr="FaRobot_0070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903" y="3186684"/>
            <a:ext cx="347472" cy="347472"/>
          </a:xfrm>
          <a:prstGeom prst="rect">
            <a:avLst/>
          </a:prstGeom>
        </p:spPr>
      </p:pic>
      <p:sp>
        <p:nvSpPr>
          <p:cNvPr id="15403" name="TextBox 15402"/>
          <p:cNvSpPr txBox="1"/>
          <p:nvPr/>
        </p:nvSpPr>
        <p:spPr>
          <a:xfrm>
            <a:off x="7726679" y="2926080"/>
            <a:ext cx="402336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AI extraction  (Whisper + LLM)</a:t>
            </a:r>
          </a:p>
          <a:p>
            <a:pPr algn="l"/>
            <a:r>
              <a:rPr sz="1150" b="0" i="0">
                <a:solidFill>
                  <a:srgbClr val="5A6472"/>
                </a:solidFill>
                <a:latin typeface="Arial"/>
              </a:rPr>
              <a:t>rice +10 kg  ·  maggi −5 pkt</a:t>
            </a:r>
          </a:p>
        </p:txBody>
      </p:sp>
      <p:cxnSp>
        <p:nvCxnSpPr>
          <p:cNvPr id="15404" name="Connector 15403"/>
          <p:cNvCxnSpPr/>
          <p:nvPr/>
        </p:nvCxnSpPr>
        <p:spPr>
          <a:xfrm>
            <a:off x="6629400" y="3566160"/>
            <a:ext cx="0" cy="475488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05" name="Oval 15404"/>
          <p:cNvSpPr/>
          <p:nvPr/>
        </p:nvSpPr>
        <p:spPr>
          <a:xfrm>
            <a:off x="6437376" y="430682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406" name="Rounded Rectangle 15405"/>
          <p:cNvSpPr/>
          <p:nvPr/>
        </p:nvSpPr>
        <p:spPr>
          <a:xfrm>
            <a:off x="7040880" y="4069080"/>
            <a:ext cx="4736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07" name="Picture 15406" descr="FaDatabase_0070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2903" y="4329683"/>
            <a:ext cx="347472" cy="347472"/>
          </a:xfrm>
          <a:prstGeom prst="rect">
            <a:avLst/>
          </a:prstGeom>
        </p:spPr>
      </p:pic>
      <p:sp>
        <p:nvSpPr>
          <p:cNvPr id="15408" name="TextBox 15407"/>
          <p:cNvSpPr txBox="1"/>
          <p:nvPr/>
        </p:nvSpPr>
        <p:spPr>
          <a:xfrm>
            <a:off x="7726679" y="4069080"/>
            <a:ext cx="402336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Smart database</a:t>
            </a:r>
          </a:p>
          <a:p>
            <a:pPr algn="l"/>
            <a:r>
              <a:rPr sz="1150" b="0" i="0">
                <a:solidFill>
                  <a:srgbClr val="5A6472"/>
                </a:solidFill>
                <a:latin typeface="Arial"/>
              </a:rPr>
              <a:t>stock  ·  udhaar ledger  ·  forecast</a:t>
            </a:r>
          </a:p>
        </p:txBody>
      </p:sp>
      <p:cxnSp>
        <p:nvCxnSpPr>
          <p:cNvPr id="15409" name="Connector 15408"/>
          <p:cNvCxnSpPr/>
          <p:nvPr/>
        </p:nvCxnSpPr>
        <p:spPr>
          <a:xfrm>
            <a:off x="6629400" y="4709160"/>
            <a:ext cx="0" cy="475488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10" name="Oval 15409"/>
          <p:cNvSpPr/>
          <p:nvPr/>
        </p:nvSpPr>
        <p:spPr>
          <a:xfrm>
            <a:off x="6437376" y="544982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411" name="Rounded Rectangle 15410"/>
          <p:cNvSpPr/>
          <p:nvPr/>
        </p:nvSpPr>
        <p:spPr>
          <a:xfrm>
            <a:off x="7040880" y="5212080"/>
            <a:ext cx="4736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12" name="Picture 15411" descr="FaBell_0070C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2903" y="5472683"/>
            <a:ext cx="347472" cy="347472"/>
          </a:xfrm>
          <a:prstGeom prst="rect">
            <a:avLst/>
          </a:prstGeom>
        </p:spPr>
      </p:pic>
      <p:sp>
        <p:nvSpPr>
          <p:cNvPr id="15413" name="TextBox 15412"/>
          <p:cNvSpPr txBox="1"/>
          <p:nvPr/>
        </p:nvSpPr>
        <p:spPr>
          <a:xfrm>
            <a:off x="7726679" y="5212080"/>
            <a:ext cx="402336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Dashboard + WhatsApp reply</a:t>
            </a:r>
          </a:p>
          <a:p>
            <a:pPr algn="l"/>
            <a:r>
              <a:rPr sz="1150" b="0" i="0">
                <a:solidFill>
                  <a:srgbClr val="5A6472"/>
                </a:solidFill>
                <a:latin typeface="Arial"/>
              </a:rPr>
              <a:t>low-stock alerts  ·  daily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53" y="215670"/>
            <a:ext cx="1343899" cy="896112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207008"/>
            <a:ext cx="438912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Methodology &amp; Process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57200" y="1554480"/>
            <a:ext cx="438912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3" name="TextBox 17412"/>
          <p:cNvSpPr txBox="1"/>
          <p:nvPr/>
        </p:nvSpPr>
        <p:spPr>
          <a:xfrm>
            <a:off x="457200" y="1645920"/>
            <a:ext cx="4389120" cy="1463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274320" indent="-274320">
              <a:spcAft>
                <a:spcPts val="500"/>
              </a:spcAft>
              <a:buClr>
                <a:srgbClr val="0070C0"/>
              </a:buClr>
              <a:buFont typeface="+mj-lt"/>
              <a:buAutoNum type="arabicPeriod"/>
            </a:pPr>
            <a:r>
              <a:rPr sz="1200" b="1">
                <a:solidFill>
                  <a:srgbClr val="1F3864"/>
                </a:solidFill>
                <a:latin typeface="Arial"/>
              </a:rPr>
              <a:t>Capture: </a:t>
            </a:r>
            <a:r>
              <a:rPr sz="1200" b="0">
                <a:solidFill>
                  <a:srgbClr val="1F3864"/>
                </a:solidFill>
                <a:latin typeface="Arial"/>
              </a:rPr>
              <a:t>text or voice note via WhatsApp / SMS webhook</a:t>
            </a:r>
          </a:p>
          <a:p>
            <a:pPr marL="274320" indent="-274320">
              <a:spcAft>
                <a:spcPts val="500"/>
              </a:spcAft>
              <a:buClr>
                <a:srgbClr val="0070C0"/>
              </a:buClr>
              <a:buFont typeface="+mj-lt"/>
              <a:buAutoNum type="arabicPeriod"/>
            </a:pPr>
            <a:r>
              <a:rPr sz="1200" b="1">
                <a:solidFill>
                  <a:srgbClr val="1F3864"/>
                </a:solidFill>
                <a:latin typeface="Arial"/>
              </a:rPr>
              <a:t>Transcribe: </a:t>
            </a:r>
            <a:r>
              <a:rPr sz="1200" b="0">
                <a:solidFill>
                  <a:srgbClr val="1F3864"/>
                </a:solidFill>
                <a:latin typeface="Arial"/>
              </a:rPr>
              <a:t>Whisper converts voice to text</a:t>
            </a:r>
          </a:p>
          <a:p>
            <a:pPr marL="274320" indent="-274320">
              <a:spcAft>
                <a:spcPts val="500"/>
              </a:spcAft>
              <a:buClr>
                <a:srgbClr val="0070C0"/>
              </a:buClr>
              <a:buFont typeface="+mj-lt"/>
              <a:buAutoNum type="arabicPeriod"/>
            </a:pPr>
            <a:r>
              <a:rPr sz="1200" b="1">
                <a:solidFill>
                  <a:srgbClr val="1F3864"/>
                </a:solidFill>
                <a:latin typeface="Arial"/>
              </a:rPr>
              <a:t>Extract: </a:t>
            </a:r>
            <a:r>
              <a:rPr sz="1200" b="0">
                <a:solidFill>
                  <a:srgbClr val="1F3864"/>
                </a:solidFill>
                <a:latin typeface="Arial"/>
              </a:rPr>
              <a:t>LLM reads item, quantity, unit, action</a:t>
            </a:r>
          </a:p>
          <a:p>
            <a:pPr marL="274320" indent="-274320">
              <a:spcAft>
                <a:spcPts val="500"/>
              </a:spcAft>
              <a:buClr>
                <a:srgbClr val="0070C0"/>
              </a:buClr>
              <a:buFont typeface="+mj-lt"/>
              <a:buAutoNum type="arabicPeriod"/>
            </a:pPr>
            <a:r>
              <a:rPr sz="1200" b="1">
                <a:solidFill>
                  <a:srgbClr val="1F3864"/>
                </a:solidFill>
                <a:latin typeface="Arial"/>
              </a:rPr>
              <a:t>Validate: </a:t>
            </a:r>
            <a:r>
              <a:rPr sz="1200" b="0">
                <a:solidFill>
                  <a:srgbClr val="1F3864"/>
                </a:solidFill>
                <a:latin typeface="Arial"/>
              </a:rPr>
              <a:t>fuzzy match, confidence check, confirm reply</a:t>
            </a:r>
          </a:p>
          <a:p>
            <a:pPr marL="274320" indent="-274320">
              <a:spcAft>
                <a:spcPts val="500"/>
              </a:spcAft>
              <a:buClr>
                <a:srgbClr val="0070C0"/>
              </a:buClr>
              <a:buFont typeface="+mj-lt"/>
              <a:buAutoNum type="arabicPeriod"/>
            </a:pPr>
            <a:r>
              <a:rPr sz="1200" b="1">
                <a:solidFill>
                  <a:srgbClr val="1F3864"/>
                </a:solidFill>
                <a:latin typeface="Arial"/>
              </a:rPr>
              <a:t>Act: </a:t>
            </a:r>
            <a:r>
              <a:rPr sz="1200" b="0">
                <a:solidFill>
                  <a:srgbClr val="1F3864"/>
                </a:solidFill>
                <a:latin typeface="Arial"/>
              </a:rPr>
              <a:t>update stock, udhaar, forecast, daily report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310896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548640" y="3136392"/>
            <a:ext cx="420624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1">
                <a:solidFill>
                  <a:srgbClr val="9FC5F0"/>
                </a:solidFill>
                <a:latin typeface="Arial"/>
              </a:rPr>
              <a:t>example: message → extracted items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"10 kg chawal aaya, 5 Maggi becha"</a:t>
            </a:r>
          </a:p>
          <a:p>
            <a:pPr algn="l"/>
            <a:r>
              <a:rPr sz="950" b="0" i="0">
                <a:solidFill>
                  <a:srgbClr val="9FC5F0"/>
                </a:solidFill>
                <a:latin typeface="Courier New"/>
              </a:rPr>
              <a:t>{"item":"rice","qty":10,"unit":"kg","action":"add"}</a:t>
            </a:r>
          </a:p>
          <a:p>
            <a:pPr algn="l"/>
            <a:r>
              <a:rPr sz="950" b="0" i="0">
                <a:solidFill>
                  <a:srgbClr val="9FC5F0"/>
                </a:solidFill>
                <a:latin typeface="Courier New"/>
              </a:rPr>
              <a:t>{"item":"maggi","qty":5,"unit":"pkt","action":"sale"}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4069080"/>
            <a:ext cx="438912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Technology Stack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457200" y="4416552"/>
            <a:ext cx="438912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457200" y="4526280"/>
            <a:ext cx="123444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0070C0"/>
                </a:solidFill>
                <a:latin typeface="Arial"/>
              </a:rPr>
              <a:t>Channel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691640" y="4526280"/>
            <a:ext cx="320040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1F3864"/>
                </a:solidFill>
                <a:latin typeface="Arial"/>
              </a:rPr>
              <a:t>WhatsApp Cloud API · Twilio SMS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57200" y="4855464"/>
            <a:ext cx="123444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0070C0"/>
                </a:solidFill>
                <a:latin typeface="Arial"/>
              </a:rPr>
              <a:t>Backend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691640" y="4855464"/>
            <a:ext cx="320040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1F3864"/>
                </a:solidFill>
                <a:latin typeface="Arial"/>
              </a:rPr>
              <a:t>Python · FastAPI · Docker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57200" y="5184648"/>
            <a:ext cx="123444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0070C0"/>
                </a:solidFill>
                <a:latin typeface="Arial"/>
              </a:rPr>
              <a:t>AI / ML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691640" y="5184648"/>
            <a:ext cx="320040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1F3864"/>
                </a:solidFill>
                <a:latin typeface="Arial"/>
              </a:rPr>
              <a:t>Whisper · Claude API · Prophet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5513832"/>
            <a:ext cx="123444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0070C0"/>
                </a:solidFill>
                <a:latin typeface="Arial"/>
              </a:rPr>
              <a:t>Data &amp; Cloud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691640" y="5513832"/>
            <a:ext cx="320040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1F3864"/>
                </a:solidFill>
                <a:latin typeface="Arial"/>
              </a:rPr>
              <a:t>PostgreSQL · Redis · AWS / Azure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57200" y="5843016"/>
            <a:ext cx="123444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0070C0"/>
                </a:solidFill>
                <a:latin typeface="Arial"/>
              </a:rPr>
              <a:t>Frontend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691640" y="5843016"/>
            <a:ext cx="3200400" cy="3017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1F3864"/>
                </a:solidFill>
                <a:latin typeface="Arial"/>
              </a:rPr>
              <a:t>React · Tailwind CSS · Chart.js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120640" y="1207008"/>
            <a:ext cx="665683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System Architecture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5120640" y="1554480"/>
            <a:ext cx="665683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5120640" y="1737360"/>
            <a:ext cx="11430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0070C0"/>
                </a:solidFill>
                <a:latin typeface="Arial"/>
              </a:rPr>
              <a:t>INPUT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263640" y="1737360"/>
            <a:ext cx="174650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2" name="Picture 17431" descr="FaWhatsapp_0070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164" y="1810512"/>
            <a:ext cx="219456" cy="219456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6291072" y="2048255"/>
            <a:ext cx="169164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WhatsApp text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147304" y="1737360"/>
            <a:ext cx="174650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5" name="Picture 17434" descr="FaMicrophone_0070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0828" y="1810512"/>
            <a:ext cx="219456" cy="219456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8174736" y="2048255"/>
            <a:ext cx="169164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Voice note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10030967" y="1737360"/>
            <a:ext cx="174650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8" name="Picture 17437" descr="FaSms_0070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4492" y="1810512"/>
            <a:ext cx="219456" cy="219456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10058399" y="2048255"/>
            <a:ext cx="169164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SMS (basic phones)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9020556" y="2414016"/>
            <a:ext cx="0" cy="201168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41" name="TextBox 17440"/>
          <p:cNvSpPr txBox="1"/>
          <p:nvPr/>
        </p:nvSpPr>
        <p:spPr>
          <a:xfrm>
            <a:off x="5120640" y="2633472"/>
            <a:ext cx="11430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0070C0"/>
                </a:solidFill>
                <a:latin typeface="Arial"/>
              </a:rPr>
              <a:t>GATEWAY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263640" y="2633472"/>
            <a:ext cx="268833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3" name="Picture 17442" descr="FaLink_0070C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2706624"/>
            <a:ext cx="219456" cy="219456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6291072" y="2944368"/>
            <a:ext cx="2633472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WhatsApp Cloud API / Twilio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9089136" y="2633472"/>
            <a:ext cx="268833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6" name="Picture 17445" descr="FaServer_0070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3576" y="2706624"/>
            <a:ext cx="219456" cy="219456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9116567" y="2944368"/>
            <a:ext cx="2633472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FastAPI webhook server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9020556" y="3310127"/>
            <a:ext cx="0" cy="201168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49" name="TextBox 17448"/>
          <p:cNvSpPr txBox="1"/>
          <p:nvPr/>
        </p:nvSpPr>
        <p:spPr>
          <a:xfrm>
            <a:off x="5120640" y="3529584"/>
            <a:ext cx="11430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0070C0"/>
                </a:solidFill>
                <a:latin typeface="Arial"/>
              </a:rPr>
              <a:t>AI LAYER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263640" y="3529584"/>
            <a:ext cx="174650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1" name="Picture 17450" descr="FaMicrophone_0070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164" y="3602735"/>
            <a:ext cx="219456" cy="219456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6291072" y="3840480"/>
            <a:ext cx="169164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Whisper speech-to-text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147304" y="3529584"/>
            <a:ext cx="174650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4" name="Picture 17453" descr="FaRobot_0070C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0828" y="3602735"/>
            <a:ext cx="219456" cy="219456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8174736" y="3840480"/>
            <a:ext cx="169164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LLM extraction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10030967" y="3529584"/>
            <a:ext cx="174650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7" name="Picture 17456" descr="FaSearch_0070C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4492" y="3602735"/>
            <a:ext cx="219456" cy="219456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10058399" y="3840480"/>
            <a:ext cx="169164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Fuzzy match + confidence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9020556" y="4206240"/>
            <a:ext cx="0" cy="201168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60" name="TextBox 17459"/>
          <p:cNvSpPr txBox="1"/>
          <p:nvPr/>
        </p:nvSpPr>
        <p:spPr>
          <a:xfrm>
            <a:off x="5120640" y="4425696"/>
            <a:ext cx="11430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0070C0"/>
                </a:solidFill>
                <a:latin typeface="Arial"/>
              </a:rPr>
              <a:t>SERVICES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6263640" y="4425696"/>
            <a:ext cx="127558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2" name="Picture 17461" descr="FaBoxes_0070C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1705" y="4498848"/>
            <a:ext cx="219456" cy="219456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6291072" y="4736592"/>
            <a:ext cx="1220724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Inventory engine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7676388" y="4425696"/>
            <a:ext cx="127558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5" name="Picture 17464" descr="FaHandHoldingUsd_E8751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04454" y="4498848"/>
            <a:ext cx="219456" cy="219456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7703819" y="4736592"/>
            <a:ext cx="1220724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Udhaar ledger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9089136" y="4425696"/>
            <a:ext cx="127558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8" name="Picture 17467" descr="FaChartLine_E8751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17202" y="4498848"/>
            <a:ext cx="219456" cy="219456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9116567" y="4736592"/>
            <a:ext cx="1220724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Demand forecast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10501884" y="4425696"/>
            <a:ext cx="127558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71" name="Picture 17470" descr="FaFileAlt_E8751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29950" y="4498848"/>
            <a:ext cx="219456" cy="219456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10529315" y="4736592"/>
            <a:ext cx="1220724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Daily report</a:t>
            </a:r>
          </a:p>
        </p:txBody>
      </p:sp>
      <p:cxnSp>
        <p:nvCxnSpPr>
          <p:cNvPr id="17473" name="Connector 17472"/>
          <p:cNvCxnSpPr/>
          <p:nvPr/>
        </p:nvCxnSpPr>
        <p:spPr>
          <a:xfrm>
            <a:off x="9020556" y="5102351"/>
            <a:ext cx="0" cy="201169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74" name="TextBox 17473"/>
          <p:cNvSpPr txBox="1"/>
          <p:nvPr/>
        </p:nvSpPr>
        <p:spPr>
          <a:xfrm>
            <a:off x="5120640" y="5321808"/>
            <a:ext cx="11430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 dirty="0">
                <a:solidFill>
                  <a:srgbClr val="0070C0"/>
                </a:solidFill>
                <a:latin typeface="Arial"/>
              </a:rPr>
              <a:t>DATA / OUTPUT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6263640" y="5321808"/>
            <a:ext cx="174650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76" name="Picture 17475" descr="FaDatabase_0070C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7164" y="5394960"/>
            <a:ext cx="219456" cy="219456"/>
          </a:xfrm>
          <a:prstGeom prst="rect">
            <a:avLst/>
          </a:prstGeom>
        </p:spPr>
      </p:pic>
      <p:sp>
        <p:nvSpPr>
          <p:cNvPr id="17477" name="TextBox 17476"/>
          <p:cNvSpPr txBox="1"/>
          <p:nvPr/>
        </p:nvSpPr>
        <p:spPr>
          <a:xfrm>
            <a:off x="6291072" y="5632704"/>
            <a:ext cx="169164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PostgreSQL + Redis</a:t>
            </a:r>
          </a:p>
        </p:txBody>
      </p:sp>
      <p:sp>
        <p:nvSpPr>
          <p:cNvPr id="17478" name="Rounded Rectangle 17477"/>
          <p:cNvSpPr/>
          <p:nvPr/>
        </p:nvSpPr>
        <p:spPr>
          <a:xfrm>
            <a:off x="8147304" y="5321808"/>
            <a:ext cx="174650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79" name="Picture 17478" descr="FaDesktop_0070C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10828" y="5394960"/>
            <a:ext cx="219456" cy="219456"/>
          </a:xfrm>
          <a:prstGeom prst="rect">
            <a:avLst/>
          </a:prstGeom>
        </p:spPr>
      </p:pic>
      <p:sp>
        <p:nvSpPr>
          <p:cNvPr id="17480" name="TextBox 17479"/>
          <p:cNvSpPr txBox="1"/>
          <p:nvPr/>
        </p:nvSpPr>
        <p:spPr>
          <a:xfrm>
            <a:off x="8174736" y="5632704"/>
            <a:ext cx="169164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Dashboard (React)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10030967" y="5321808"/>
            <a:ext cx="174650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82" name="Picture 17481" descr="FaBell_0070C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94492" y="5394960"/>
            <a:ext cx="219456" cy="219456"/>
          </a:xfrm>
          <a:prstGeom prst="rect">
            <a:avLst/>
          </a:prstGeom>
        </p:spPr>
      </p:pic>
      <p:sp>
        <p:nvSpPr>
          <p:cNvPr id="17483" name="TextBox 17482"/>
          <p:cNvSpPr txBox="1"/>
          <p:nvPr/>
        </p:nvSpPr>
        <p:spPr>
          <a:xfrm>
            <a:off x="10058399" y="5632704"/>
            <a:ext cx="169164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WhatsApp reply + alerts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6263640" y="6016752"/>
            <a:ext cx="5513832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1">
                <a:solidFill>
                  <a:srgbClr val="E8751A"/>
                </a:solidFill>
                <a:latin typeface="Arial"/>
              </a:rPr>
              <a:t>orange outline = smart add-on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53" y="215670"/>
            <a:ext cx="1343899" cy="896112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487168" y="1243584"/>
            <a:ext cx="2560320" cy="402336"/>
          </a:xfrm>
          <a:prstGeom prst="roundRect">
            <a:avLst>
              <a:gd name="adj" fmla="val 22727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2487168" y="1243584"/>
            <a:ext cx="256032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Feasibility &amp; Viability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3767328" y="1645920"/>
            <a:ext cx="0" cy="22859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>
            <a:off x="1257300" y="1874519"/>
            <a:ext cx="5020056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1257300" y="1874519"/>
            <a:ext cx="0" cy="22860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57200" y="210312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57200" y="210312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Technical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7200" y="2560320"/>
            <a:ext cx="16002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Mature WhatsApp / SMS APIs</a:t>
            </a:r>
          </a:p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Whisper + LLM proven for Hindi</a:t>
            </a:r>
          </a:p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Standard FastAPI + React stack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2930652" y="1874519"/>
            <a:ext cx="0" cy="22860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2130552" y="210312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2130552" y="210312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Financial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130552" y="2560320"/>
            <a:ext cx="16002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Free tiers, pay-per-message</a:t>
            </a:r>
          </a:p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Freemium + low-fee Pro plan</a:t>
            </a:r>
          </a:p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Pilots via grants and CSR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604004" y="1874519"/>
            <a:ext cx="0" cy="22860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3803904" y="210312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3803904" y="210312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Operational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803904" y="2560320"/>
            <a:ext cx="16002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Zero training: already on WhatsApp</a:t>
            </a:r>
          </a:p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Onboard with "Hi" or QR code</a:t>
            </a:r>
          </a:p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Dashboard in phone browser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6277356" y="1874519"/>
            <a:ext cx="0" cy="22860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5477256" y="210312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5477256" y="210312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Social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477256" y="2560320"/>
            <a:ext cx="16002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Digital inclusion for micro-retail</a:t>
            </a:r>
          </a:p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Regional-language replies</a:t>
            </a:r>
          </a:p>
          <a:p>
            <a:pPr marL="146304" indent="-146304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Arial"/>
              </a:rPr>
              <a:t>Confirm-back builds trust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498079" y="1207008"/>
            <a:ext cx="427939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Challenges  →  Strategies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7498079" y="1554480"/>
            <a:ext cx="427939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3" name="TextBox 17432"/>
          <p:cNvSpPr txBox="1"/>
          <p:nvPr/>
        </p:nvSpPr>
        <p:spPr>
          <a:xfrm>
            <a:off x="7498079" y="1691640"/>
            <a:ext cx="4279392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5A6472"/>
                </a:solidFill>
                <a:latin typeface="Arial"/>
              </a:rPr>
              <a:t>Messy Hinglish, noisy voice notes</a:t>
            </a:r>
          </a:p>
          <a:p>
            <a:pPr algn="l"/>
            <a:r>
              <a:rPr sz="1200" b="1" i="0">
                <a:solidFill>
                  <a:srgbClr val="0070C0"/>
                </a:solidFill>
                <a:latin typeface="Arial"/>
              </a:rPr>
              <a:t>→ </a:t>
            </a:r>
            <a:r>
              <a:rPr sz="1150" b="1" i="0">
                <a:solidFill>
                  <a:srgbClr val="1F3864"/>
                </a:solidFill>
                <a:latin typeface="Arial"/>
              </a:rPr>
              <a:t>LLM + fuzzy match, ask to resend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498079" y="2258568"/>
            <a:ext cx="4279392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5A6472"/>
                </a:solidFill>
                <a:latin typeface="Arial"/>
              </a:rPr>
              <a:t>Weak internet in small towns</a:t>
            </a:r>
          </a:p>
          <a:p>
            <a:pPr algn="l"/>
            <a:r>
              <a:rPr sz="1200" b="1" i="0">
                <a:solidFill>
                  <a:srgbClr val="0070C0"/>
                </a:solidFill>
                <a:latin typeface="Arial"/>
              </a:rPr>
              <a:t>→ </a:t>
            </a:r>
            <a:r>
              <a:rPr sz="1150" b="1" i="0">
                <a:solidFill>
                  <a:srgbClr val="1F3864"/>
                </a:solidFill>
                <a:latin typeface="Arial"/>
              </a:rPr>
              <a:t>SMS fallback channel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498079" y="2825496"/>
            <a:ext cx="4279392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5A6472"/>
                </a:solidFill>
                <a:latin typeface="Arial"/>
              </a:rPr>
              <a:t>Wrong or duplicate entries</a:t>
            </a:r>
          </a:p>
          <a:p>
            <a:pPr algn="l"/>
            <a:r>
              <a:rPr sz="1200" b="1" i="0">
                <a:solidFill>
                  <a:srgbClr val="0070C0"/>
                </a:solidFill>
                <a:latin typeface="Arial"/>
              </a:rPr>
              <a:t>→ </a:t>
            </a:r>
            <a:r>
              <a:rPr sz="1150" b="1" i="0">
                <a:solidFill>
                  <a:srgbClr val="1F3864"/>
                </a:solidFill>
                <a:latin typeface="Arial"/>
              </a:rPr>
              <a:t>Confirm-back reply with UNDO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498079" y="3392424"/>
            <a:ext cx="4279392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5A6472"/>
                </a:solidFill>
                <a:latin typeface="Arial"/>
              </a:rPr>
              <a:t>Data privacy and trust</a:t>
            </a:r>
          </a:p>
          <a:p>
            <a:pPr algn="l"/>
            <a:r>
              <a:rPr sz="1200" b="1" i="0">
                <a:solidFill>
                  <a:srgbClr val="0070C0"/>
                </a:solidFill>
                <a:latin typeface="Arial"/>
              </a:rPr>
              <a:t>→ </a:t>
            </a:r>
            <a:r>
              <a:rPr sz="1150" b="1" i="0">
                <a:solidFill>
                  <a:srgbClr val="1F3864"/>
                </a:solidFill>
                <a:latin typeface="Arial"/>
              </a:rPr>
              <a:t>Per-shop access, encrypted storage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57200" y="4069080"/>
            <a:ext cx="1132027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Rollout Roadmap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457200" y="4416552"/>
            <a:ext cx="1132027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9" name="Connector 17438"/>
          <p:cNvCxnSpPr/>
          <p:nvPr/>
        </p:nvCxnSpPr>
        <p:spPr>
          <a:xfrm>
            <a:off x="731520" y="4754880"/>
            <a:ext cx="10789920" cy="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40" name="Oval 17439"/>
          <p:cNvSpPr/>
          <p:nvPr/>
        </p:nvSpPr>
        <p:spPr>
          <a:xfrm>
            <a:off x="502920" y="452628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57200" y="5074920"/>
            <a:ext cx="3566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Arial"/>
              </a:rPr>
              <a:t>Phase 1  ·  MVP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57200" y="5394960"/>
            <a:ext cx="356616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82880" indent="-182880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Arial"/>
              </a:rPr>
              <a:t>Text + voice entry</a:t>
            </a:r>
          </a:p>
          <a:p>
            <a:pPr marL="182880" indent="-182880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Arial"/>
              </a:rPr>
              <a:t>Stock updates and dashboard</a:t>
            </a:r>
          </a:p>
          <a:p>
            <a:pPr marL="182880" indent="-182880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Arial"/>
              </a:rPr>
              <a:t>Confirm-back with UNDO</a:t>
            </a:r>
          </a:p>
        </p:txBody>
      </p:sp>
      <p:sp>
        <p:nvSpPr>
          <p:cNvPr id="17443" name="Oval 17442"/>
          <p:cNvSpPr/>
          <p:nvPr/>
        </p:nvSpPr>
        <p:spPr>
          <a:xfrm>
            <a:off x="4325112" y="4526280"/>
            <a:ext cx="457200" cy="457200"/>
          </a:xfrm>
          <a:prstGeom prst="ellipse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279392" y="5074920"/>
            <a:ext cx="3566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E8751A"/>
                </a:solidFill>
                <a:latin typeface="Arial"/>
              </a:rPr>
              <a:t>Phase 2  ·  Smart add-ons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279392" y="5394960"/>
            <a:ext cx="356616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82880" indent="-182880">
              <a:spcAft>
                <a:spcPts val="200"/>
              </a:spcAft>
              <a:buClr>
                <a:srgbClr val="E8751A"/>
              </a:buClr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Arial"/>
              </a:rPr>
              <a:t>Udhaar ledger</a:t>
            </a:r>
          </a:p>
          <a:p>
            <a:pPr marL="182880" indent="-182880">
              <a:spcAft>
                <a:spcPts val="200"/>
              </a:spcAft>
              <a:buClr>
                <a:srgbClr val="E8751A"/>
              </a:buClr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Arial"/>
              </a:rPr>
              <a:t>Demand forecast</a:t>
            </a:r>
          </a:p>
          <a:p>
            <a:pPr marL="182880" indent="-182880">
              <a:spcAft>
                <a:spcPts val="200"/>
              </a:spcAft>
              <a:buClr>
                <a:srgbClr val="E8751A"/>
              </a:buClr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Arial"/>
              </a:rPr>
              <a:t>Daily WhatsApp report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8147304" y="452628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101583" y="5074920"/>
            <a:ext cx="3566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Arial"/>
              </a:rPr>
              <a:t>Phase 3  ·  Pilot &amp; scale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8101583" y="5394960"/>
            <a:ext cx="356616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82880" indent="-182880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Arial"/>
              </a:rPr>
              <a:t>Pilot in local markets</a:t>
            </a:r>
          </a:p>
          <a:p>
            <a:pPr marL="182880" indent="-182880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Arial"/>
              </a:rPr>
              <a:t>Add regional languages</a:t>
            </a:r>
          </a:p>
          <a:p>
            <a:pPr marL="182880" indent="-182880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Arial"/>
              </a:rPr>
              <a:t>Onboard via distributors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53" y="215670"/>
            <a:ext cx="1343899" cy="896112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207008"/>
            <a:ext cx="548640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Benefits of the Solution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57200" y="1554480"/>
            <a:ext cx="54864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>
            <a:off x="777240" y="2057400"/>
            <a:ext cx="0" cy="3291840"/>
          </a:xfrm>
          <a:prstGeom prst="line">
            <a:avLst/>
          </a:prstGeom>
          <a:ln w="3175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Oval 17413"/>
          <p:cNvSpPr/>
          <p:nvPr/>
        </p:nvSpPr>
        <p:spPr>
          <a:xfrm>
            <a:off x="493776" y="177393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FaStore_0070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" y="1915668"/>
            <a:ext cx="283464" cy="28346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280160" y="1783080"/>
            <a:ext cx="44805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Arial"/>
              </a:rPr>
              <a:t>Shopkeepers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280160" y="2167128"/>
            <a:ext cx="44805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64592" indent="-164592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F3864"/>
                </a:solidFill>
                <a:latin typeface="Arial"/>
              </a:rPr>
              <a:t>Saves time, no training needed</a:t>
            </a:r>
          </a:p>
          <a:p>
            <a:pPr marL="164592" indent="-164592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F3864"/>
                </a:solidFill>
                <a:latin typeface="Arial"/>
              </a:rPr>
              <a:t>Live stock and udhaar clarity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493776" y="2871215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FaTruck_0070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" y="3012948"/>
            <a:ext cx="283464" cy="283464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1280160" y="2880360"/>
            <a:ext cx="44805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Arial"/>
              </a:rPr>
              <a:t>Customers &amp; suppliers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280160" y="3264408"/>
            <a:ext cx="44805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64592" indent="-164592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F3864"/>
                </a:solidFill>
                <a:latin typeface="Arial"/>
              </a:rPr>
              <a:t>Fewer stock-outs on the shelf</a:t>
            </a:r>
          </a:p>
          <a:p>
            <a:pPr marL="164592" indent="-164592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F3864"/>
                </a:solidFill>
                <a:latin typeface="Arial"/>
              </a:rPr>
              <a:t>Smarter, data-backed restocking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493776" y="396849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3" name="Picture 17422" descr="FaUniversity_0070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" y="4110227"/>
            <a:ext cx="283464" cy="283464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1280160" y="3977639"/>
            <a:ext cx="44805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Arial"/>
              </a:rPr>
              <a:t>Government &amp; policy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280160" y="4361688"/>
            <a:ext cx="44805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64592" indent="-164592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F3864"/>
                </a:solidFill>
                <a:latin typeface="Arial"/>
              </a:rPr>
              <a:t>Brings micro-retail into Digital India</a:t>
            </a:r>
          </a:p>
          <a:p>
            <a:pPr marL="164592" indent="-164592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F3864"/>
                </a:solidFill>
                <a:latin typeface="Arial"/>
              </a:rPr>
              <a:t>Anonymised local demand insights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493776" y="506577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7" name="Picture 17426" descr="FaLeaf_0070C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" y="5207507"/>
            <a:ext cx="283464" cy="283464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1280160" y="5074920"/>
            <a:ext cx="44805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Arial"/>
              </a:rPr>
              <a:t>Environment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280160" y="5458968"/>
            <a:ext cx="44805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64592" indent="-164592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F3864"/>
                </a:solidFill>
                <a:latin typeface="Arial"/>
              </a:rPr>
              <a:t>Less paper: notebooks replaced by chat</a:t>
            </a:r>
          </a:p>
          <a:p>
            <a:pPr marL="164592" indent="-164592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F3864"/>
                </a:solidFill>
                <a:latin typeface="Arial"/>
              </a:rPr>
              <a:t>Less spoilage through better planning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309360" y="1207008"/>
            <a:ext cx="546811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Business Model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6309360" y="1554480"/>
            <a:ext cx="546811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2" name="Oval 17431"/>
          <p:cNvSpPr/>
          <p:nvPr/>
        </p:nvSpPr>
        <p:spPr>
          <a:xfrm>
            <a:off x="6894576" y="172821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3" name="Picture 17432" descr="FaUsers_0070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6308" y="1869948"/>
            <a:ext cx="283464" cy="283464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6309360" y="2377440"/>
            <a:ext cx="1737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Arial"/>
              </a:rPr>
              <a:t>Freemium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355080" y="2651760"/>
            <a:ext cx="16459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A6472"/>
                </a:solidFill>
                <a:latin typeface="Arial"/>
              </a:rPr>
              <a:t>Free core chat-to-stock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8741663" y="172821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7" name="Picture 17436" descr="FaStar_0070C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3396" y="1869948"/>
            <a:ext cx="283464" cy="283464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8156448" y="2377440"/>
            <a:ext cx="1737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Arial"/>
              </a:rPr>
              <a:t>Pro plan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202168" y="2651760"/>
            <a:ext cx="16459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A6472"/>
                </a:solidFill>
                <a:latin typeface="Arial"/>
              </a:rPr>
              <a:t>Low fee for forecasts and reports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10588752" y="172821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1" name="Picture 17440" descr="FaHandshake_0070C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30484" y="1869948"/>
            <a:ext cx="283464" cy="283464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10003536" y="2377440"/>
            <a:ext cx="1737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Arial"/>
              </a:rPr>
              <a:t>Partnerships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0049256" y="2651760"/>
            <a:ext cx="16459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A6472"/>
                </a:solidFill>
                <a:latin typeface="Arial"/>
              </a:rPr>
              <a:t>Distributors and FMCG restock offers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309360" y="3200400"/>
            <a:ext cx="546811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0070C0"/>
                </a:solidFill>
                <a:latin typeface="Arial"/>
              </a:rPr>
              <a:t>Funding:  </a:t>
            </a:r>
            <a:r>
              <a:rPr sz="1150" b="0" i="0">
                <a:solidFill>
                  <a:srgbClr val="1F3864"/>
                </a:solidFill>
                <a:latin typeface="Arial"/>
              </a:rPr>
              <a:t>Govt. schemes  ·  CSR pilots  ·  Incubators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309360" y="3657600"/>
            <a:ext cx="546811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Target Customers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6309360" y="4005072"/>
            <a:ext cx="546811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47" name="TextBox 17446"/>
          <p:cNvSpPr txBox="1"/>
          <p:nvPr/>
        </p:nvSpPr>
        <p:spPr>
          <a:xfrm>
            <a:off x="6309360" y="4114800"/>
            <a:ext cx="546811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Kirana stores  ·  Street vendors  ·  Small wholesalers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309360" y="4572000"/>
            <a:ext cx="546811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Scalability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6309360" y="4919472"/>
            <a:ext cx="546811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50" name="Pentagon 17449"/>
          <p:cNvSpPr/>
          <p:nvPr/>
        </p:nvSpPr>
        <p:spPr>
          <a:xfrm>
            <a:off x="6309360" y="5029200"/>
            <a:ext cx="1444752" cy="731520"/>
          </a:xfrm>
          <a:prstGeom prst="homePlate">
            <a:avLst/>
          </a:prstGeom>
          <a:solidFill>
            <a:srgbClr val="2F8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Local pilot</a:t>
            </a:r>
          </a:p>
        </p:txBody>
      </p:sp>
      <p:sp>
        <p:nvSpPr>
          <p:cNvPr id="17451" name="Pentagon 17450"/>
          <p:cNvSpPr/>
          <p:nvPr/>
        </p:nvSpPr>
        <p:spPr>
          <a:xfrm>
            <a:off x="7680960" y="5029200"/>
            <a:ext cx="1444752" cy="731520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Regional languages</a:t>
            </a:r>
          </a:p>
        </p:txBody>
      </p:sp>
      <p:sp>
        <p:nvSpPr>
          <p:cNvPr id="17452" name="Pentagon 17451"/>
          <p:cNvSpPr/>
          <p:nvPr/>
        </p:nvSpPr>
        <p:spPr>
          <a:xfrm>
            <a:off x="9052560" y="5029200"/>
            <a:ext cx="1444752" cy="731520"/>
          </a:xfrm>
          <a:prstGeom prst="homePlate">
            <a:avLst/>
          </a:prstGeom>
          <a:solidFill>
            <a:srgbClr val="0F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Distributor network</a:t>
            </a:r>
          </a:p>
        </p:txBody>
      </p:sp>
      <p:sp>
        <p:nvSpPr>
          <p:cNvPr id="17453" name="Pentagon 17452"/>
          <p:cNvSpPr/>
          <p:nvPr/>
        </p:nvSpPr>
        <p:spPr>
          <a:xfrm>
            <a:off x="10424160" y="5029200"/>
            <a:ext cx="1444752" cy="731520"/>
          </a:xfrm>
          <a:prstGeom prst="homePlat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City / state rollout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309360" y="5815584"/>
            <a:ext cx="546811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5A6472"/>
                </a:solidFill>
                <a:latin typeface="Arial"/>
              </a:rPr>
              <a:t>Each phase improves the language models with real shop messages.</a:t>
            </a:r>
          </a:p>
          <a:p>
            <a:pPr algn="l"/>
            <a:r>
              <a:rPr sz="1050" b="0" i="0">
                <a:solidFill>
                  <a:srgbClr val="5A6472"/>
                </a:solidFill>
                <a:latin typeface="Arial"/>
              </a:rPr>
              <a:t>Pilot metrics: parse accuracy · reply time · active shops · stock-outs avoided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53" y="215670"/>
            <a:ext cx="1343899" cy="896112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207008"/>
            <a:ext cx="676656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Sample UI Concept by the Team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57200" y="1554480"/>
            <a:ext cx="676656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3" name="Rounded Rectangle 17412"/>
          <p:cNvSpPr/>
          <p:nvPr/>
        </p:nvSpPr>
        <p:spPr>
          <a:xfrm>
            <a:off x="457200" y="1737360"/>
            <a:ext cx="2560320" cy="44805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ectangle 17413"/>
          <p:cNvSpPr/>
          <p:nvPr/>
        </p:nvSpPr>
        <p:spPr>
          <a:xfrm>
            <a:off x="548640" y="1828800"/>
            <a:ext cx="2377440" cy="429768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548640" y="1828800"/>
            <a:ext cx="2377440" cy="4023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6" name="Picture 17415" descr="FaWhatsap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920240"/>
            <a:ext cx="219456" cy="219456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960120" y="1828800"/>
            <a:ext cx="19202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StockSathi Bot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1097280" y="233172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DC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FaMicrophone_0070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7" y="2395727"/>
            <a:ext cx="182880" cy="18288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1444752" y="2331720"/>
            <a:ext cx="137160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Voice note   0:07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1097280" y="2706624"/>
            <a:ext cx="1783080" cy="420624"/>
          </a:xfrm>
          <a:prstGeom prst="roundRect">
            <a:avLst>
              <a:gd name="adj" fmla="val 17391"/>
            </a:avLst>
          </a:prstGeom>
          <a:solidFill>
            <a:srgbClr val="DC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10 kg chawal aaya, 5 Maggi becha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40080" y="3191256"/>
            <a:ext cx="1828800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Updated: Rice +10 kg, Maggi -5 pkt. Reply UNDO to cancel.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097280" y="3877056"/>
            <a:ext cx="1783080" cy="420624"/>
          </a:xfrm>
          <a:prstGeom prst="roundRect">
            <a:avLst>
              <a:gd name="adj" fmla="val 17391"/>
            </a:avLst>
          </a:prstGeom>
          <a:solidFill>
            <a:srgbClr val="DC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Ramesh ne 2 kg sugar udhaar liya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0080" y="436168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Udhaar saved: Ramesh, 2 kg sugar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1097280" y="484632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DC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Aaj ka stock?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40080" y="5202936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Low: Sugar 2 kg. Forecast: sugar ends in 3 days. Reorder?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3200400" y="1737360"/>
            <a:ext cx="40233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ectangle 17427"/>
          <p:cNvSpPr/>
          <p:nvPr/>
        </p:nvSpPr>
        <p:spPr>
          <a:xfrm>
            <a:off x="3200400" y="1737360"/>
            <a:ext cx="4023360" cy="27432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3291840" y="1737360"/>
            <a:ext cx="38404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Arial"/>
              </a:rPr>
              <a:t>StockSathi Dashboard  (sample data)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291840" y="2103120"/>
            <a:ext cx="118872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0070C0"/>
                </a:solidFill>
                <a:latin typeface="Arial"/>
              </a:rPr>
              <a:t>128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291840" y="2487168"/>
            <a:ext cx="11887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5A6472"/>
                </a:solidFill>
                <a:latin typeface="Arial"/>
              </a:rPr>
              <a:t>Items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4526280" y="2148840"/>
            <a:ext cx="0" cy="502920"/>
          </a:xfrm>
          <a:prstGeom prst="line">
            <a:avLst/>
          </a:prstGeom>
          <a:ln w="127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3" name="TextBox 17432"/>
          <p:cNvSpPr txBox="1"/>
          <p:nvPr/>
        </p:nvSpPr>
        <p:spPr>
          <a:xfrm>
            <a:off x="4572000" y="2103120"/>
            <a:ext cx="118872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E8751A"/>
                </a:solidFill>
                <a:latin typeface="Arial"/>
              </a:rPr>
              <a:t>7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572000" y="2487168"/>
            <a:ext cx="11887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5A6472"/>
                </a:solidFill>
                <a:latin typeface="Arial"/>
              </a:rPr>
              <a:t>Low stock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5806440" y="2148840"/>
            <a:ext cx="0" cy="502920"/>
          </a:xfrm>
          <a:prstGeom prst="line">
            <a:avLst/>
          </a:prstGeom>
          <a:ln w="127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6" name="TextBox 17435"/>
          <p:cNvSpPr txBox="1"/>
          <p:nvPr/>
        </p:nvSpPr>
        <p:spPr>
          <a:xfrm>
            <a:off x="5852160" y="2103120"/>
            <a:ext cx="118872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Arial"/>
              </a:rPr>
              <a:t>5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852160" y="2487168"/>
            <a:ext cx="11887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5A6472"/>
                </a:solidFill>
                <a:latin typeface="Arial"/>
              </a:rPr>
              <a:t>Udhaar open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3291840" y="2788920"/>
            <a:ext cx="3840480" cy="0"/>
          </a:xfrm>
          <a:prstGeom prst="line">
            <a:avLst/>
          </a:prstGeom>
          <a:ln w="127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9" name="TextBox 17438"/>
          <p:cNvSpPr txBox="1"/>
          <p:nvPr/>
        </p:nvSpPr>
        <p:spPr>
          <a:xfrm>
            <a:off x="3291840" y="2880360"/>
            <a:ext cx="7315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70C0"/>
                </a:solidFill>
                <a:latin typeface="Arial"/>
              </a:rPr>
              <a:t>Item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023360" y="2880360"/>
            <a:ext cx="5943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70C0"/>
                </a:solidFill>
                <a:latin typeface="Arial"/>
              </a:rPr>
              <a:t>Qty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617720" y="2880360"/>
            <a:ext cx="5486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70C0"/>
                </a:solidFill>
                <a:latin typeface="Arial"/>
              </a:rPr>
              <a:t>Status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3291840" y="3154679"/>
            <a:ext cx="187452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43" name="TextBox 17442"/>
          <p:cNvSpPr txBox="1"/>
          <p:nvPr/>
        </p:nvSpPr>
        <p:spPr>
          <a:xfrm>
            <a:off x="3291840" y="3191256"/>
            <a:ext cx="731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Rice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023360" y="3191256"/>
            <a:ext cx="594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34 kg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617720" y="3191256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5A6472"/>
                </a:solidFill>
                <a:latin typeface="Arial"/>
              </a:rPr>
              <a:t>OK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3291840" y="3483863"/>
            <a:ext cx="731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Sugar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023360" y="3483863"/>
            <a:ext cx="594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2 kg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4617720" y="3483863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E8751A"/>
                </a:solidFill>
                <a:latin typeface="Arial"/>
              </a:rPr>
              <a:t>Low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3291840" y="3776472"/>
            <a:ext cx="731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Maggi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023360" y="3776472"/>
            <a:ext cx="594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21 pkt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617720" y="3776472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5A6472"/>
                </a:solidFill>
                <a:latin typeface="Arial"/>
              </a:rPr>
              <a:t>OK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3291840" y="4069079"/>
            <a:ext cx="731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Oil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4023360" y="4069079"/>
            <a:ext cx="594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1 L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4617720" y="4069079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E8751A"/>
                </a:solidFill>
                <a:latin typeface="Arial"/>
              </a:rPr>
              <a:t>Low</a:t>
            </a:r>
          </a:p>
        </p:txBody>
      </p:sp>
      <p:graphicFrame>
        <p:nvGraphicFramePr>
          <p:cNvPr id="17455" name="Chart 17454"/>
          <p:cNvGraphicFramePr>
            <a:graphicFrameLocks noGrp="1"/>
          </p:cNvGraphicFramePr>
          <p:nvPr/>
        </p:nvGraphicFramePr>
        <p:xfrm>
          <a:off x="5212080" y="2834640"/>
          <a:ext cx="196596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17456" name="Connector 17455"/>
          <p:cNvCxnSpPr/>
          <p:nvPr/>
        </p:nvCxnSpPr>
        <p:spPr>
          <a:xfrm>
            <a:off x="3291840" y="4572000"/>
            <a:ext cx="3840480" cy="0"/>
          </a:xfrm>
          <a:prstGeom prst="line">
            <a:avLst/>
          </a:prstGeom>
          <a:ln w="127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57" name="Picture 17456" descr="FaBell_E8751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4892040"/>
            <a:ext cx="274320" cy="274320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3794760" y="4663440"/>
            <a:ext cx="333756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Forecast alert</a:t>
            </a:r>
          </a:p>
          <a:p>
            <a:pPr algn="l"/>
            <a:r>
              <a:rPr sz="1050" b="0" i="0">
                <a:solidFill>
                  <a:srgbClr val="5A6472"/>
                </a:solidFill>
                <a:latin typeface="Arial"/>
              </a:rPr>
              <a:t>Sugar ends in ~3 days. Suggested reorder: 10 kg</a:t>
            </a:r>
          </a:p>
        </p:txBody>
      </p:sp>
      <p:pic>
        <p:nvPicPr>
          <p:cNvPr id="17459" name="Picture 17458" descr="FaFileAlt_0070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5577840"/>
            <a:ext cx="274320" cy="274320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3794760" y="5349240"/>
            <a:ext cx="333756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Daily WhatsApp report</a:t>
            </a:r>
          </a:p>
          <a:p>
            <a:pPr algn="l"/>
            <a:r>
              <a:rPr sz="1050" b="0" i="0">
                <a:solidFill>
                  <a:srgbClr val="5A6472"/>
                </a:solidFill>
                <a:latin typeface="Arial"/>
              </a:rPr>
              <a:t>42 entries · Low: Sugar, Oil · Udhaar due: 5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7589520" y="1207008"/>
            <a:ext cx="418795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Reference Platforms</a:t>
            </a:r>
          </a:p>
        </p:txBody>
      </p:sp>
      <p:cxnSp>
        <p:nvCxnSpPr>
          <p:cNvPr id="17462" name="Connector 17461"/>
          <p:cNvCxnSpPr/>
          <p:nvPr/>
        </p:nvCxnSpPr>
        <p:spPr>
          <a:xfrm>
            <a:off x="7589520" y="1554480"/>
            <a:ext cx="418795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63" name="TextBox 17462"/>
          <p:cNvSpPr txBox="1"/>
          <p:nvPr/>
        </p:nvSpPr>
        <p:spPr>
          <a:xfrm>
            <a:off x="7589520" y="1664208"/>
            <a:ext cx="4187952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WhatsApp Business Platform</a:t>
            </a:r>
            <a:r>
              <a:rPr sz="1050" b="0" i="0">
                <a:solidFill>
                  <a:srgbClr val="5A6472"/>
                </a:solidFill>
                <a:latin typeface="Arial"/>
              </a:rPr>
              <a:t>  —  Meta Cloud API for messaging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7589520" y="2121408"/>
            <a:ext cx="4187952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Twilio Messaging</a:t>
            </a:r>
            <a:r>
              <a:rPr sz="1050" b="0" i="0">
                <a:solidFill>
                  <a:srgbClr val="5A6472"/>
                </a:solidFill>
                <a:latin typeface="Arial"/>
              </a:rPr>
              <a:t>  —  SMS and WhatsApp API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7589520" y="2578608"/>
            <a:ext cx="4187952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Khatabook / Vyapar</a:t>
            </a:r>
            <a:r>
              <a:rPr sz="1050" b="0" i="0">
                <a:solidFill>
                  <a:srgbClr val="5A6472"/>
                </a:solidFill>
                <a:latin typeface="Arial"/>
              </a:rPr>
              <a:t>  —  App + typing based; we use chat and voice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7589520" y="3200400"/>
            <a:ext cx="418795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References &amp; Sources</a:t>
            </a:r>
          </a:p>
        </p:txBody>
      </p:sp>
      <p:cxnSp>
        <p:nvCxnSpPr>
          <p:cNvPr id="17467" name="Connector 17466"/>
          <p:cNvCxnSpPr/>
          <p:nvPr/>
        </p:nvCxnSpPr>
        <p:spPr>
          <a:xfrm>
            <a:off x="7589520" y="3547872"/>
            <a:ext cx="418795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68" name="TextBox 17467"/>
          <p:cNvSpPr txBox="1"/>
          <p:nvPr/>
        </p:nvSpPr>
        <p:spPr>
          <a:xfrm>
            <a:off x="7589520" y="3639312"/>
            <a:ext cx="418795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WhatsApp Business Cloud API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10"/>
              </a:rPr>
              <a:t>developers.facebook.com/docs/whatsapp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7589520" y="4059936"/>
            <a:ext cx="418795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Twilio Programmable Messaging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11"/>
              </a:rPr>
              <a:t>twilio.com/docs/messaging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7589520" y="4480560"/>
            <a:ext cx="418795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Whisper: robust speech recognition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12"/>
              </a:rPr>
              <a:t>arxiv.org/abs/2212.04356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7589520" y="4901184"/>
            <a:ext cx="418795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Bhashini: Indian-language AI mission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13"/>
              </a:rPr>
              <a:t>bhashini.gov.in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7589520" y="5321808"/>
            <a:ext cx="418795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FastAPI documentation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14"/>
              </a:rPr>
              <a:t>fastapi.tiangolo.com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7589520" y="5742432"/>
            <a:ext cx="418795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Prophet: time-series forecasting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15"/>
              </a:rPr>
              <a:t>facebook.github.io/prophet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PROTOTYPE &amp; DEMO LINKS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53" y="215670"/>
            <a:ext cx="1343899" cy="896112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1691640" y="150876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2" name="Picture 17411" descr="FaLaptopCode_0070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1783080"/>
            <a:ext cx="548640" cy="54864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457200" y="2743200"/>
            <a:ext cx="35661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Live Prototype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0080" y="315468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i="0">
                <a:solidFill>
                  <a:srgbClr val="5A6472"/>
                </a:solidFill>
                <a:latin typeface="Arial"/>
              </a:rPr>
              <a:t>WhatsApp bot + web dashboard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31520" y="3749039"/>
            <a:ext cx="32004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55871" y="3868614"/>
            <a:ext cx="3017520" cy="22929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 dirty="0">
                <a:solidFill>
                  <a:srgbClr val="C00000"/>
                </a:solidFill>
                <a:latin typeface="Arial"/>
              </a:rPr>
              <a:t>[add prototype link]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4133087" y="1463040"/>
            <a:ext cx="0" cy="2743200"/>
          </a:xfrm>
          <a:prstGeom prst="line">
            <a:avLst/>
          </a:prstGeom>
          <a:ln w="127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8" name="Oval 17417"/>
          <p:cNvSpPr/>
          <p:nvPr/>
        </p:nvSpPr>
        <p:spPr>
          <a:xfrm>
            <a:off x="5486400" y="150876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FaGithub_0070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783080"/>
            <a:ext cx="548640" cy="54864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4251960" y="2743200"/>
            <a:ext cx="35661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GitHub Repository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434840" y="315468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i="0" dirty="0">
                <a:solidFill>
                  <a:srgbClr val="5A6472"/>
                </a:solidFill>
                <a:latin typeface="Arial"/>
              </a:rPr>
              <a:t>Source code, setup guide, README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26279" y="3749039"/>
            <a:ext cx="3325920" cy="54864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dirty="0"/>
          </a:p>
        </p:txBody>
      </p:sp>
      <p:sp>
        <p:nvSpPr>
          <p:cNvPr id="17423" name="TextBox 17422"/>
          <p:cNvSpPr txBox="1"/>
          <p:nvPr/>
        </p:nvSpPr>
        <p:spPr>
          <a:xfrm>
            <a:off x="4526280" y="3799039"/>
            <a:ext cx="3017520" cy="37548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IN" sz="1100" b="1" dirty="0">
                <a:solidFill>
                  <a:srgbClr val="002060"/>
                </a:solidFill>
                <a:latin typeface="Arial"/>
              </a:rPr>
              <a:t>https://github.com/Namrata261107/StockSathi.git</a:t>
            </a:r>
            <a:endParaRPr sz="1100" b="1" i="0" dirty="0">
              <a:solidFill>
                <a:srgbClr val="002060"/>
              </a:solidFill>
              <a:latin typeface="Arial"/>
            </a:endParaRPr>
          </a:p>
        </p:txBody>
      </p:sp>
      <p:cxnSp>
        <p:nvCxnSpPr>
          <p:cNvPr id="17424" name="Connector 17423"/>
          <p:cNvCxnSpPr/>
          <p:nvPr/>
        </p:nvCxnSpPr>
        <p:spPr>
          <a:xfrm>
            <a:off x="7927848" y="1463040"/>
            <a:ext cx="0" cy="2743200"/>
          </a:xfrm>
          <a:prstGeom prst="line">
            <a:avLst/>
          </a:prstGeom>
          <a:ln w="127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5" name="Oval 17424"/>
          <p:cNvSpPr/>
          <p:nvPr/>
        </p:nvSpPr>
        <p:spPr>
          <a:xfrm>
            <a:off x="9281160" y="150876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6" name="Picture 17425" descr="FaPlayCircle_0070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1783080"/>
            <a:ext cx="548640" cy="548640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8046720" y="2743200"/>
            <a:ext cx="35661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Demo Video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229600" y="315468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i="0">
                <a:solidFill>
                  <a:srgbClr val="5A6472"/>
                </a:solidFill>
                <a:latin typeface="Arial"/>
              </a:rPr>
              <a:t>2-minute walkthrough of StockSathi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229601" y="3749039"/>
            <a:ext cx="3352792" cy="54864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8321040" y="3806733"/>
            <a:ext cx="3017520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IN" sz="1050" b="1" dirty="0">
                <a:solidFill>
                  <a:srgbClr val="002060"/>
                </a:solidFill>
                <a:latin typeface="Arial"/>
              </a:rPr>
              <a:t>https://drive.google.com/file/d/16ycCmu5_w1axoDfPSh4HZZ-g_vGh_qLT/view?usp=drivesdk</a:t>
            </a:r>
            <a:endParaRPr sz="1050" b="1" i="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7431" name="TextBox 17430"/>
          <p:cNvSpPr txBox="1"/>
          <p:nvPr/>
        </p:nvSpPr>
        <p:spPr>
          <a:xfrm>
            <a:off x="457200" y="4572000"/>
            <a:ext cx="11320272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Arial"/>
              </a:rPr>
              <a:t>What the Demo Shows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457200" y="4919472"/>
            <a:ext cx="1132027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3" name="Connector 17432"/>
          <p:cNvCxnSpPr/>
          <p:nvPr/>
        </p:nvCxnSpPr>
        <p:spPr>
          <a:xfrm>
            <a:off x="1371600" y="5257800"/>
            <a:ext cx="8503920" cy="0"/>
          </a:xfrm>
          <a:prstGeom prst="line">
            <a:avLst/>
          </a:prstGeom>
          <a:ln w="25400">
            <a:solidFill>
              <a:srgbClr val="C9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4" name="Oval 17433"/>
          <p:cNvSpPr/>
          <p:nvPr/>
        </p:nvSpPr>
        <p:spPr>
          <a:xfrm>
            <a:off x="1143000" y="502920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1440" y="5577840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1F3864"/>
                </a:solidFill>
                <a:latin typeface="Arial"/>
              </a:rPr>
              <a:t>Send a voice note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3977639" y="502920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2926079" y="5577840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1F3864"/>
                </a:solidFill>
                <a:latin typeface="Arial"/>
              </a:rPr>
              <a:t>Stock updates instantly</a:t>
            </a:r>
          </a:p>
        </p:txBody>
      </p:sp>
      <p:sp>
        <p:nvSpPr>
          <p:cNvPr id="17438" name="Oval 17437"/>
          <p:cNvSpPr/>
          <p:nvPr/>
        </p:nvSpPr>
        <p:spPr>
          <a:xfrm>
            <a:off x="6812280" y="5029200"/>
            <a:ext cx="457200" cy="457200"/>
          </a:xfrm>
          <a:prstGeom prst="ellipse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760720" y="5577840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1F3864"/>
                </a:solidFill>
                <a:latin typeface="Arial"/>
              </a:rPr>
              <a:t>Udhaar + forecast alert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9646920" y="5029200"/>
            <a:ext cx="457200" cy="457200"/>
          </a:xfrm>
          <a:prstGeom prst="ellipse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595360" y="5577840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1F3864"/>
                </a:solidFill>
                <a:latin typeface="Arial"/>
              </a:rPr>
              <a:t>Daily report on WhatsApp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57200" y="5989320"/>
            <a:ext cx="1132027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0" i="0">
                <a:solidFill>
                  <a:srgbClr val="5A6472"/>
                </a:solidFill>
                <a:latin typeface="Arial"/>
              </a:rPr>
              <a:t>Team TechTitans  ·  Pallvi Jaywant Patil  ·  Shravani Bhimrao Fadatare  ·  Namrata Dilip Kachare  ·  Apurva Arvind Desai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1326</Words>
  <Application>Microsoft Office PowerPoint</Application>
  <PresentationFormat>Widescreen</PresentationFormat>
  <Paragraphs>271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Courier New</vt:lpstr>
      <vt:lpstr>Garamond</vt:lpstr>
      <vt:lpstr>Times New Roman</vt:lpstr>
      <vt:lpstr>TradeGothic</vt:lpstr>
      <vt:lpstr>Office Theme</vt:lpstr>
      <vt:lpstr>SMART INDIA HACKATHON 2026</vt:lpstr>
      <vt:lpstr> STOCKSATHI</vt:lpstr>
      <vt:lpstr>TECHNICAL APPROACH</vt:lpstr>
      <vt:lpstr>FEASIBILITY AND VIABILITY</vt:lpstr>
      <vt:lpstr>IMPACT AND BENEFITS</vt:lpstr>
      <vt:lpstr>RESEARCH  AND REFERENCES</vt:lpstr>
      <vt:lpstr>PROTOTYPE &amp; DEMO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Pallvi Patil</dc:creator>
  <cp:lastModifiedBy>namrata kachare</cp:lastModifiedBy>
  <cp:revision>3</cp:revision>
  <dcterms:modified xsi:type="dcterms:W3CDTF">2026-10-09T16:10:33Z</dcterms:modified>
</cp:coreProperties>
</file>